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oppins" panose="020B0604020202020204" charset="0"/>
      <p:regular r:id="rId10"/>
    </p:embeddedFont>
    <p:embeddedFont>
      <p:font typeface="Poppins Bold" panose="020B0604020202020204" charset="0"/>
      <p:regular r:id="rId11"/>
    </p:embeddedFont>
    <p:embeddedFont>
      <p:font typeface="Red Hat Display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ed Hat Display Bold" panose="020B0604020202020204" charset="0"/>
      <p:regular r:id="rId17"/>
    </p:embeddedFont>
    <p:embeddedFont>
      <p:font typeface="Poppins Light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46075" y="4001819"/>
            <a:ext cx="14769119" cy="26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5000" b="1" spc="18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 STUDY ON OPTIMIZING QUERY RESOLUTION IN CORPORATE SETTINGS, FROM WHATSAPP TO ZOHO DESK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634" y="7276523"/>
            <a:ext cx="672866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5"/>
              </a:lnSpc>
              <a:spcBef>
                <a:spcPct val="0"/>
              </a:spcBef>
            </a:pPr>
            <a:r>
              <a:rPr lang="en-US" sz="3403" spc="-68" dirty="0" smtClean="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Presented by – Poulomi Jana</a:t>
            </a:r>
            <a:br>
              <a:rPr lang="en-US" sz="3403" spc="-68" dirty="0" smtClean="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</a:br>
            <a:r>
              <a:rPr lang="en-US" sz="3403" spc="-68" dirty="0" smtClean="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Roll No. – I302</a:t>
            </a:r>
            <a:endParaRPr lang="en-US" sz="3403" spc="-68" dirty="0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69980" y="0"/>
            <a:ext cx="8689320" cy="4291188"/>
          </a:xfrm>
          <a:custGeom>
            <a:avLst/>
            <a:gdLst/>
            <a:ahLst/>
            <a:cxnLst/>
            <a:rect l="l" t="t" r="r" b="b"/>
            <a:pathLst>
              <a:path w="8689320" h="4291188">
                <a:moveTo>
                  <a:pt x="0" y="0"/>
                </a:moveTo>
                <a:lnTo>
                  <a:pt x="8689320" y="0"/>
                </a:lnTo>
                <a:lnTo>
                  <a:pt x="8689320" y="4291188"/>
                </a:lnTo>
                <a:lnTo>
                  <a:pt x="0" y="4291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50" b="-695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40631" y="149591"/>
            <a:ext cx="10029795" cy="1256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854"/>
              </a:lnSpc>
              <a:spcBef>
                <a:spcPct val="0"/>
              </a:spcBef>
            </a:pPr>
            <a:r>
              <a:rPr lang="en-US" sz="8144" spc="301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Company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6819" y="4762198"/>
            <a:ext cx="10677417" cy="467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863" lvl="1" indent="-367431" algn="l">
              <a:lnSpc>
                <a:spcPts val="4118"/>
              </a:lnSpc>
              <a:buFont typeface="Arial"/>
              <a:buChar char="•"/>
            </a:pPr>
            <a:r>
              <a:rPr lang="en-US" sz="3403" spc="-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Leading diagnostic company with pan-India operations.</a:t>
            </a:r>
          </a:p>
          <a:p>
            <a:pPr marL="734863" lvl="1" indent="-367431" algn="l">
              <a:lnSpc>
                <a:spcPts val="4118"/>
              </a:lnSpc>
              <a:buFont typeface="Arial"/>
              <a:buChar char="•"/>
            </a:pPr>
            <a:r>
              <a:rPr lang="en-US" sz="3403" spc="-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Queries raised by ASMs and RSMs.</a:t>
            </a:r>
          </a:p>
          <a:p>
            <a:pPr marL="734863" lvl="1" indent="-367431" algn="l">
              <a:lnSpc>
                <a:spcPts val="4118"/>
              </a:lnSpc>
              <a:buFont typeface="Arial"/>
              <a:buChar char="•"/>
            </a:pPr>
            <a:r>
              <a:rPr lang="en-US" sz="3403" spc="-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Earlier handled via WhatsApp - caused delays and confusion.</a:t>
            </a:r>
          </a:p>
          <a:p>
            <a:pPr marL="734863" lvl="1" indent="-367431" algn="l">
              <a:lnSpc>
                <a:spcPts val="4118"/>
              </a:lnSpc>
              <a:buFont typeface="Arial"/>
              <a:buChar char="•"/>
            </a:pPr>
            <a:r>
              <a:rPr lang="en-US" sz="3403" spc="-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Shifted to Zoho Desk for structured workflow and tracking.</a:t>
            </a:r>
          </a:p>
          <a:p>
            <a:pPr algn="l">
              <a:lnSpc>
                <a:spcPts val="4118"/>
              </a:lnSpc>
            </a:pPr>
            <a:endParaRPr lang="en-US" sz="3403" spc="-68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>
              <a:lnSpc>
                <a:spcPts val="4118"/>
              </a:lnSpc>
              <a:spcBef>
                <a:spcPct val="0"/>
              </a:spcBef>
            </a:pPr>
            <a:endParaRPr lang="en-US" sz="3403" spc="-68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11575" y="1009650"/>
            <a:ext cx="14373174" cy="101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44" spc="24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Problem Identification &amp; Objectives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02730" y="3108151"/>
            <a:ext cx="12397366" cy="279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5"/>
              </a:lnSpc>
            </a:pPr>
            <a:r>
              <a:rPr lang="en-US" sz="3403" b="1" spc="-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</a:t>
            </a:r>
            <a:r>
              <a:rPr lang="en-US" sz="3403" b="1" strike="noStrike" spc="-6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oblems with WhatsApp-based system:</a:t>
            </a:r>
          </a:p>
          <a:p>
            <a:pPr marL="670094" lvl="1" indent="-335047" algn="l">
              <a:lnSpc>
                <a:spcPts val="4345"/>
              </a:lnSpc>
              <a:buFont typeface="Arial"/>
              <a:buChar char="•"/>
            </a:pPr>
            <a:r>
              <a:rPr lang="en-US" sz="3103" strike="noStrike" spc="-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record, tracking, or follow-up mechanism.</a:t>
            </a:r>
          </a:p>
          <a:p>
            <a:pPr marL="670094" lvl="1" indent="-335047" algn="l">
              <a:lnSpc>
                <a:spcPts val="4345"/>
              </a:lnSpc>
              <a:buFont typeface="Arial"/>
              <a:buChar char="•"/>
            </a:pPr>
            <a:r>
              <a:rPr lang="en-US" sz="3103" strike="noStrike" spc="-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Missed responses and accountability issues.</a:t>
            </a:r>
          </a:p>
          <a:p>
            <a:pPr algn="l">
              <a:lnSpc>
                <a:spcPts val="4345"/>
              </a:lnSpc>
            </a:pPr>
            <a:endParaRPr lang="en-US" sz="3103" strike="noStrike" spc="-6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345"/>
              </a:lnSpc>
            </a:pPr>
            <a:endParaRPr lang="en-US" sz="3103" strike="noStrike" spc="-6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14826" y="5806806"/>
            <a:ext cx="13274322" cy="353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sz="3103" b="1" spc="-6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sz="3103" b="1" strike="noStrike" spc="-6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esearch Objectives:</a:t>
            </a:r>
          </a:p>
          <a:p>
            <a:pPr marL="605326" lvl="1" indent="-302663" algn="l">
              <a:lnSpc>
                <a:spcPts val="3925"/>
              </a:lnSpc>
              <a:buFont typeface="Arial"/>
              <a:buChar char="•"/>
            </a:pPr>
            <a:r>
              <a:rPr lang="en-US" sz="2803" strike="noStrike" spc="-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Identify inefficiencies in the WhatsApp-based query handling system.</a:t>
            </a:r>
          </a:p>
          <a:p>
            <a:pPr marL="605326" lvl="1" indent="-302663" algn="l">
              <a:lnSpc>
                <a:spcPts val="3925"/>
              </a:lnSpc>
              <a:buFont typeface="Arial"/>
              <a:buChar char="•"/>
            </a:pPr>
            <a:r>
              <a:rPr lang="en-US" sz="2803" strike="noStrike" spc="-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design and implement a Zoho Desk workflow integrated with Zoho Forms.</a:t>
            </a:r>
          </a:p>
          <a:p>
            <a:pPr marL="605326" lvl="1" indent="-302663" algn="l">
              <a:lnSpc>
                <a:spcPts val="3925"/>
              </a:lnSpc>
              <a:buFont typeface="Arial"/>
              <a:buChar char="•"/>
            </a:pPr>
            <a:r>
              <a:rPr lang="en-US" sz="2803" strike="noStrike" spc="-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evaluate on-time vs delayed query resolution rates before and after Zoho Desk adoption.</a:t>
            </a:r>
          </a:p>
          <a:p>
            <a:pPr algn="l">
              <a:lnSpc>
                <a:spcPts val="3925"/>
              </a:lnSpc>
            </a:pPr>
            <a:endParaRPr lang="en-US" sz="2803" strike="noStrike" spc="-5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692974" y="1890488"/>
            <a:ext cx="12970919" cy="11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249"/>
              </a:lnSpc>
              <a:spcBef>
                <a:spcPct val="0"/>
              </a:spcBef>
            </a:pPr>
            <a:r>
              <a:rPr lang="en-US" sz="7644" spc="28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Rese</a:t>
            </a:r>
            <a:r>
              <a:rPr lang="en-US" sz="7644" strike="noStrike" spc="28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arch Methodology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61615" y="3992132"/>
            <a:ext cx="12970919" cy="327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0094" lvl="1" indent="-335047" algn="l">
              <a:lnSpc>
                <a:spcPts val="4345"/>
              </a:lnSpc>
              <a:buFont typeface="Arial"/>
              <a:buChar char="•"/>
            </a:pPr>
            <a:r>
              <a:rPr lang="en-US" sz="3103" spc="-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Type: Primary research using Zoho Desk data.</a:t>
            </a:r>
          </a:p>
          <a:p>
            <a:pPr marL="670094" lvl="1" indent="-335047" algn="l">
              <a:lnSpc>
                <a:spcPts val="4345"/>
              </a:lnSpc>
              <a:buFont typeface="Arial"/>
              <a:buChar char="•"/>
            </a:pPr>
            <a:r>
              <a:rPr lang="en-US" sz="3103" spc="-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Period: June–August 2025.</a:t>
            </a:r>
          </a:p>
          <a:p>
            <a:pPr marL="670094" lvl="1" indent="-335047" algn="l">
              <a:lnSpc>
                <a:spcPts val="4345"/>
              </a:lnSpc>
              <a:buFont typeface="Arial"/>
              <a:buChar char="•"/>
            </a:pPr>
            <a:r>
              <a:rPr lang="en-US" sz="3103" spc="-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Tota</a:t>
            </a:r>
            <a:r>
              <a:rPr lang="en-US" sz="3103" strike="noStrike" spc="-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 Queries: 637 (June 213, July 262, August 162).</a:t>
            </a:r>
          </a:p>
          <a:p>
            <a:pPr marL="670094" lvl="1" indent="-335047" algn="l">
              <a:lnSpc>
                <a:spcPts val="4345"/>
              </a:lnSpc>
              <a:buFont typeface="Arial"/>
              <a:buChar char="•"/>
            </a:pPr>
            <a:r>
              <a:rPr lang="en-US" sz="3103" strike="noStrike" spc="-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Method: Stratified sampling by month, region, and product line.</a:t>
            </a:r>
          </a:p>
          <a:p>
            <a:pPr marL="670094" lvl="1" indent="-335047" algn="l">
              <a:lnSpc>
                <a:spcPts val="4345"/>
              </a:lnSpc>
              <a:buFont typeface="Arial"/>
              <a:buChar char="•"/>
            </a:pPr>
            <a:r>
              <a:rPr lang="en-US" sz="3103" strike="noStrike" spc="-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Ensured confidentiality through anonymized data.</a:t>
            </a:r>
          </a:p>
          <a:p>
            <a:pPr algn="l">
              <a:lnSpc>
                <a:spcPts val="4345"/>
              </a:lnSpc>
            </a:pPr>
            <a:endParaRPr lang="en-US" sz="3103" strike="noStrike" spc="-6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5970" y="622743"/>
            <a:ext cx="811914" cy="811914"/>
          </a:xfrm>
          <a:custGeom>
            <a:avLst/>
            <a:gdLst/>
            <a:ahLst/>
            <a:cxnLst/>
            <a:rect l="l" t="t" r="r" b="b"/>
            <a:pathLst>
              <a:path w="811914" h="811914">
                <a:moveTo>
                  <a:pt x="0" y="0"/>
                </a:moveTo>
                <a:lnTo>
                  <a:pt x="811914" y="0"/>
                </a:lnTo>
                <a:lnTo>
                  <a:pt x="811914" y="811914"/>
                </a:lnTo>
                <a:lnTo>
                  <a:pt x="0" y="811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946858" y="-1303203"/>
            <a:ext cx="4663807" cy="3465318"/>
          </a:xfrm>
          <a:custGeom>
            <a:avLst/>
            <a:gdLst/>
            <a:ahLst/>
            <a:cxnLst/>
            <a:rect l="l" t="t" r="r" b="b"/>
            <a:pathLst>
              <a:path w="4663807" h="3465318">
                <a:moveTo>
                  <a:pt x="0" y="0"/>
                </a:moveTo>
                <a:lnTo>
                  <a:pt x="4663807" y="0"/>
                </a:lnTo>
                <a:lnTo>
                  <a:pt x="4663807" y="3465318"/>
                </a:lnTo>
                <a:lnTo>
                  <a:pt x="0" y="34653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3458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446675" y="2162115"/>
            <a:ext cx="7529987" cy="4267885"/>
          </a:xfrm>
          <a:custGeom>
            <a:avLst/>
            <a:gdLst/>
            <a:ahLst/>
            <a:cxnLst/>
            <a:rect l="l" t="t" r="r" b="b"/>
            <a:pathLst>
              <a:path w="7529987" h="4267885">
                <a:moveTo>
                  <a:pt x="0" y="0"/>
                </a:moveTo>
                <a:lnTo>
                  <a:pt x="7529987" y="0"/>
                </a:lnTo>
                <a:lnTo>
                  <a:pt x="7529987" y="4267885"/>
                </a:lnTo>
                <a:lnTo>
                  <a:pt x="0" y="42678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949" b="-594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46215" y="1798386"/>
            <a:ext cx="6117337" cy="4267885"/>
          </a:xfrm>
          <a:custGeom>
            <a:avLst/>
            <a:gdLst/>
            <a:ahLst/>
            <a:cxnLst/>
            <a:rect l="l" t="t" r="r" b="b"/>
            <a:pathLst>
              <a:path w="6117337" h="4267885">
                <a:moveTo>
                  <a:pt x="0" y="0"/>
                </a:moveTo>
                <a:lnTo>
                  <a:pt x="6117337" y="0"/>
                </a:lnTo>
                <a:lnTo>
                  <a:pt x="6117337" y="4267885"/>
                </a:lnTo>
                <a:lnTo>
                  <a:pt x="0" y="42678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759" r="-521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20780" y="263265"/>
            <a:ext cx="12290888" cy="117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249"/>
              </a:lnSpc>
              <a:spcBef>
                <a:spcPct val="0"/>
              </a:spcBef>
            </a:pPr>
            <a:r>
              <a:rPr lang="en-US" sz="7644" spc="282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Analysis &amp; Findings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970" y="6353800"/>
            <a:ext cx="10102043" cy="36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915" lvl="1" indent="-313458" algn="l">
              <a:lnSpc>
                <a:spcPts val="4065"/>
              </a:lnSpc>
              <a:spcBef>
                <a:spcPct val="0"/>
              </a:spcBef>
              <a:buFont typeface="Arial"/>
              <a:buChar char="•"/>
            </a:pPr>
            <a:r>
              <a:rPr lang="en-US" sz="2903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On-ti</a:t>
            </a:r>
            <a:r>
              <a:rPr lang="en-US" sz="2903" strike="noStrike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 resolution improved from 9.4% → 54.3 % (June to August).</a:t>
            </a:r>
          </a:p>
          <a:p>
            <a:pPr marL="626915" lvl="1" indent="-313458" algn="l">
              <a:lnSpc>
                <a:spcPts val="4065"/>
              </a:lnSpc>
              <a:spcBef>
                <a:spcPct val="0"/>
              </a:spcBef>
              <a:buFont typeface="Arial"/>
              <a:buChar char="•"/>
            </a:pPr>
            <a:r>
              <a:rPr lang="en-US" sz="2903" strike="noStrike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Significant reduction in delays from 90.6% to 45.7% (June to August).</a:t>
            </a:r>
          </a:p>
          <a:p>
            <a:pPr marL="626915" lvl="1" indent="-313458" algn="l">
              <a:lnSpc>
                <a:spcPts val="4065"/>
              </a:lnSpc>
              <a:spcBef>
                <a:spcPct val="0"/>
              </a:spcBef>
              <a:buFont typeface="Arial"/>
              <a:buChar char="•"/>
            </a:pPr>
            <a:r>
              <a:rPr lang="en-US" sz="2903" strike="noStrike" spc="-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 clarity reduced informal follow-ups &amp; enhanced accountability.</a:t>
            </a:r>
          </a:p>
          <a:p>
            <a:pPr marL="0" lvl="1" indent="0" algn="l">
              <a:lnSpc>
                <a:spcPts val="4065"/>
              </a:lnSpc>
              <a:spcBef>
                <a:spcPct val="0"/>
              </a:spcBef>
            </a:pPr>
            <a:endParaRPr lang="en-US" sz="2903" strike="noStrike" spc="-58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15820" y="1510178"/>
            <a:ext cx="13043483" cy="106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03"/>
              </a:lnSpc>
            </a:pPr>
            <a:r>
              <a:rPr lang="en-US" sz="6944" spc="256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 Limitations &amp; Suggestions</a:t>
            </a:r>
          </a:p>
        </p:txBody>
      </p:sp>
      <p:sp>
        <p:nvSpPr>
          <p:cNvPr id="4" name="Freeform 4"/>
          <p:cNvSpPr/>
          <p:nvPr/>
        </p:nvSpPr>
        <p:spPr>
          <a:xfrm rot="1404403">
            <a:off x="3848769" y="4796270"/>
            <a:ext cx="2665971" cy="2761364"/>
          </a:xfrm>
          <a:custGeom>
            <a:avLst/>
            <a:gdLst/>
            <a:ahLst/>
            <a:cxnLst/>
            <a:rect l="l" t="t" r="r" b="b"/>
            <a:pathLst>
              <a:path w="2665971" h="2761364">
                <a:moveTo>
                  <a:pt x="0" y="0"/>
                </a:moveTo>
                <a:lnTo>
                  <a:pt x="2665971" y="0"/>
                </a:lnTo>
                <a:lnTo>
                  <a:pt x="2665971" y="2761363"/>
                </a:lnTo>
                <a:lnTo>
                  <a:pt x="0" y="2761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9236373">
            <a:off x="8506942" y="2966945"/>
            <a:ext cx="2330821" cy="2414222"/>
          </a:xfrm>
          <a:custGeom>
            <a:avLst/>
            <a:gdLst/>
            <a:ahLst/>
            <a:cxnLst/>
            <a:rect l="l" t="t" r="r" b="b"/>
            <a:pathLst>
              <a:path w="2330821" h="2414222">
                <a:moveTo>
                  <a:pt x="0" y="0"/>
                </a:moveTo>
                <a:lnTo>
                  <a:pt x="2330821" y="0"/>
                </a:lnTo>
                <a:lnTo>
                  <a:pt x="2330821" y="2414222"/>
                </a:lnTo>
                <a:lnTo>
                  <a:pt x="0" y="24142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404403">
            <a:off x="13253491" y="5688601"/>
            <a:ext cx="2665971" cy="2761364"/>
          </a:xfrm>
          <a:custGeom>
            <a:avLst/>
            <a:gdLst/>
            <a:ahLst/>
            <a:cxnLst/>
            <a:rect l="l" t="t" r="r" b="b"/>
            <a:pathLst>
              <a:path w="2665971" h="2761364">
                <a:moveTo>
                  <a:pt x="0" y="0"/>
                </a:moveTo>
                <a:lnTo>
                  <a:pt x="2665971" y="0"/>
                </a:lnTo>
                <a:lnTo>
                  <a:pt x="2665971" y="2761363"/>
                </a:lnTo>
                <a:lnTo>
                  <a:pt x="0" y="27613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00101" y="5206009"/>
            <a:ext cx="1621707" cy="670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6"/>
              </a:lnSpc>
            </a:pPr>
            <a:r>
              <a:rPr lang="en-US" sz="3975" spc="147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97460" y="5435857"/>
            <a:ext cx="5149785" cy="76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2"/>
              </a:lnSpc>
            </a:pPr>
            <a:r>
              <a:rPr lang="en-US" sz="4287" u="none" strike="noStrike" spc="-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scope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4629" y="3926489"/>
            <a:ext cx="5136388" cy="78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42"/>
              </a:lnSpc>
            </a:pPr>
            <a:r>
              <a:rPr lang="en-US" sz="4387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</a:t>
            </a:r>
            <a:r>
              <a:rPr lang="en-US" sz="4387" u="none" strike="noStrike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ort time frame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89534" y="4069266"/>
            <a:ext cx="1621707" cy="67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6"/>
              </a:lnSpc>
            </a:pPr>
            <a:r>
              <a:rPr lang="en-US" sz="3926" spc="145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17767" y="6110276"/>
            <a:ext cx="1621707" cy="670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6"/>
              </a:lnSpc>
            </a:pPr>
            <a:r>
              <a:rPr lang="en-US" sz="3975" spc="147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11584" y="3888701"/>
            <a:ext cx="5149785" cy="152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spc="-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External factors not accounted for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75704" y="7784399"/>
            <a:ext cx="11038834" cy="1754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9823" lvl="1" indent="-354911" algn="l">
              <a:lnSpc>
                <a:spcPts val="4602"/>
              </a:lnSpc>
              <a:buFont typeface="Arial"/>
              <a:buChar char="•"/>
            </a:pPr>
            <a:r>
              <a:rPr lang="en-US" sz="3287" spc="-6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 Adoption of Zoh</a:t>
            </a:r>
            <a:r>
              <a:rPr lang="en-US" sz="3287" u="none" strike="noStrike" spc="-6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Desk Workflows</a:t>
            </a:r>
          </a:p>
          <a:p>
            <a:pPr marL="709823" lvl="1" indent="-354911" algn="l">
              <a:lnSpc>
                <a:spcPts val="4602"/>
              </a:lnSpc>
              <a:buFont typeface="Arial"/>
              <a:buChar char="•"/>
            </a:pPr>
            <a:r>
              <a:rPr lang="en-US" sz="3287" u="none" strike="noStrike" spc="-6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Regular Training and Capacity Building</a:t>
            </a:r>
          </a:p>
          <a:p>
            <a:pPr marL="709823" lvl="1" indent="-354911" algn="l">
              <a:lnSpc>
                <a:spcPts val="4602"/>
              </a:lnSpc>
              <a:buFont typeface="Arial"/>
              <a:buChar char="•"/>
            </a:pPr>
            <a:r>
              <a:rPr lang="en-US" sz="3287" u="none" strike="noStrike" spc="-6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Promote Accountability and Ownership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68903"/>
            <a:ext cx="11014278" cy="105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469"/>
              </a:lnSpc>
              <a:spcBef>
                <a:spcPct val="0"/>
              </a:spcBef>
            </a:pPr>
            <a:r>
              <a:rPr lang="en-US" sz="6999" b="1" spc="258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3361" y="6162675"/>
            <a:ext cx="9321372" cy="281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1684" lvl="1" indent="-345842" algn="l">
              <a:lnSpc>
                <a:spcPts val="4485"/>
              </a:lnSpc>
              <a:buFont typeface="Arial"/>
              <a:buChar char="•"/>
            </a:pPr>
            <a:r>
              <a:rPr lang="en-US" sz="3203" spc="-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203" strike="noStrike" spc="-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mproved accountability and transparency</a:t>
            </a:r>
          </a:p>
          <a:p>
            <a:pPr marL="691684" lvl="1" indent="-345842" algn="l">
              <a:lnSpc>
                <a:spcPts val="4485"/>
              </a:lnSpc>
              <a:buFont typeface="Arial"/>
              <a:buChar char="•"/>
            </a:pPr>
            <a:r>
              <a:rPr lang="en-US" sz="3203" strike="noStrike" spc="-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Faster resolution times</a:t>
            </a:r>
          </a:p>
          <a:p>
            <a:pPr marL="691684" lvl="1" indent="-345842" algn="l">
              <a:lnSpc>
                <a:spcPts val="4485"/>
              </a:lnSpc>
              <a:buFont typeface="Arial"/>
              <a:buChar char="•"/>
            </a:pPr>
            <a:r>
              <a:rPr lang="en-US" sz="3203" strike="noStrike" spc="-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Enhanced tracking and data-based decision-making</a:t>
            </a:r>
          </a:p>
          <a:p>
            <a:pPr algn="l">
              <a:lnSpc>
                <a:spcPts val="4485"/>
              </a:lnSpc>
            </a:pPr>
            <a:endParaRPr lang="en-US" sz="3203" strike="noStrike" spc="-6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454" y="2369356"/>
            <a:ext cx="5548289" cy="32365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-508119">
            <a:off x="4900840" y="2308823"/>
            <a:ext cx="7788471" cy="6896337"/>
          </a:xfrm>
          <a:custGeom>
            <a:avLst/>
            <a:gdLst/>
            <a:ahLst/>
            <a:cxnLst/>
            <a:rect l="l" t="t" r="r" b="b"/>
            <a:pathLst>
              <a:path w="7788471" h="6896337">
                <a:moveTo>
                  <a:pt x="0" y="0"/>
                </a:moveTo>
                <a:lnTo>
                  <a:pt x="7788471" y="0"/>
                </a:lnTo>
                <a:lnTo>
                  <a:pt x="7788471" y="6896337"/>
                </a:lnTo>
                <a:lnTo>
                  <a:pt x="0" y="6896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Custom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Poppins</vt:lpstr>
      <vt:lpstr>Poppins Bold</vt:lpstr>
      <vt:lpstr>Red Hat Display</vt:lpstr>
      <vt:lpstr>Calibri</vt:lpstr>
      <vt:lpstr>Red Hat Display Bold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STUDY ON OPTIMIZING QUERY RESOLUTION IN CORPORATE SETTINGS, FROM WHATSAPP TO ZOHO DESK</dc:title>
  <cp:lastModifiedBy>Piu Jana</cp:lastModifiedBy>
  <cp:revision>2</cp:revision>
  <dcterms:created xsi:type="dcterms:W3CDTF">2006-08-16T00:00:00Z</dcterms:created>
  <dcterms:modified xsi:type="dcterms:W3CDTF">2026-06-06T09:08:39Z</dcterms:modified>
  <dc:identifier>DAG3zwY0lXg</dc:identifier>
</cp:coreProperties>
</file>